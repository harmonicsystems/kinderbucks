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14300" cy="5143500"/>
          </a:xfrm>
          <a:prstGeom prst="rect">
            <a:avLst/>
          </a:prstGeom>
          <a:solidFill>
            <a:srgbClr val="1A5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912712" y="1462088"/>
            <a:ext cx="131857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INTRODUCING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2259407" y="1806773"/>
            <a:ext cx="462518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200"/>
              </a:lnSpc>
              <a:buNone/>
            </a:pPr>
            <a:r>
              <a:rPr lang="en-US" sz="4200" b="1" dirty="0">
                <a:solidFill>
                  <a:srgbClr val="1A5F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KINDERHOOKER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2688863" y="2511623"/>
            <a:ext cx="3766274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65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Village Loyalty and Rewards Program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4095750" y="3128814"/>
            <a:ext cx="952500" cy="28575"/>
          </a:xfrm>
          <a:prstGeom prst="rect">
            <a:avLst/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081126" y="3481239"/>
            <a:ext cx="298174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25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the Village. The Village Supports You.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4046150" y="4730204"/>
            <a:ext cx="105155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Kinderhook, New York</a:t>
            </a:r>
            <a:endParaRPr lang="en-US" sz="8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672554"/>
            <a:ext cx="409022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2400"/>
              </a:spcAft>
              <a:buNone/>
            </a:pPr>
            <a:r>
              <a:rPr lang="en-US" sz="2400" b="1" dirty="0">
                <a:solidFill>
                  <a:srgbClr val="1A5F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Challenge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71500" y="1434554"/>
            <a:ext cx="3543300" cy="963811"/>
          </a:xfrm>
          <a:prstGeom prst="roundRect">
            <a:avLst>
              <a:gd name="adj" fmla="val 7906"/>
            </a:avLst>
          </a:prstGeom>
          <a:solidFill>
            <a:srgbClr val="E8E4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62000" y="1625054"/>
            <a:ext cx="322554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1A5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Isolated Businesses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62000" y="1887885"/>
            <a:ext cx="322554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shop operates alone with no shared data or coordination.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71500" y="2550765"/>
            <a:ext cx="3543300" cy="963811"/>
          </a:xfrm>
          <a:prstGeom prst="roundRect">
            <a:avLst>
              <a:gd name="adj" fmla="val 7906"/>
            </a:avLst>
          </a:prstGeom>
          <a:solidFill>
            <a:srgbClr val="E8E4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62000" y="2741265"/>
            <a:ext cx="322554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1A5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Winter Vulnerability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62000" y="3004096"/>
            <a:ext cx="322554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January through March determines survival for many businesses.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71500" y="3666976"/>
            <a:ext cx="3543300" cy="803821"/>
          </a:xfrm>
          <a:prstGeom prst="roundRect">
            <a:avLst>
              <a:gd name="adj" fmla="val 9480"/>
            </a:avLst>
          </a:prstGeom>
          <a:solidFill>
            <a:srgbClr val="E8E4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62000" y="3857476"/>
            <a:ext cx="322554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1A5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Disadvantage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62000" y="4120307"/>
            <a:ext cx="322554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 retail tracks everything. Main Street flies blind.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419600" y="2101155"/>
            <a:ext cx="4152900" cy="1702891"/>
          </a:xfrm>
          <a:prstGeom prst="roundRect">
            <a:avLst>
              <a:gd name="adj" fmla="val 6712"/>
            </a:avLst>
          </a:prstGeom>
          <a:solidFill>
            <a:srgbClr val="1A5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029252" y="2405955"/>
            <a:ext cx="933447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5071061" y="3312616"/>
            <a:ext cx="284982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Bef>
                <a:spcPts val="900"/>
              </a:spcBef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small businesses say winter is most stressful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5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67474" y="1152674"/>
            <a:ext cx="140905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spcAft>
                <a:spcPts val="1800"/>
              </a:spcAft>
              <a:buNone/>
            </a:pPr>
            <a:r>
              <a:rPr lang="en-US" sz="97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PHILOSOPHY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1970068" y="1706910"/>
            <a:ext cx="5203865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spcAft>
                <a:spcPts val="180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never charge more when demand is high.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614845" y="2461171"/>
            <a:ext cx="5914311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spcAft>
                <a:spcPts val="2400"/>
              </a:spcAft>
              <a:buNone/>
            </a:pPr>
            <a:r>
              <a:rPr lang="en-US" sz="21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only reward you for coming when we need you.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191000" y="3291632"/>
            <a:ext cx="762000" cy="28575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312691" y="3777407"/>
            <a:ext cx="451861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anti-surge pricing. We reward loyalty, not punish necessity.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1315492"/>
            <a:ext cx="409022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2400"/>
              </a:spcAft>
              <a:buNone/>
            </a:pPr>
            <a:r>
              <a:rPr lang="en-US" sz="2400" b="1" dirty="0">
                <a:solidFill>
                  <a:srgbClr val="1A5F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Systems, One Ecosystem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71500" y="2077492"/>
            <a:ext cx="2527250" cy="1750516"/>
          </a:xfrm>
          <a:prstGeom prst="roundRect">
            <a:avLst>
              <a:gd name="adj" fmla="val 6530"/>
            </a:avLst>
          </a:prstGeom>
          <a:solidFill>
            <a:srgbClr val="FFFFFF"/>
          </a:solidFill>
          <a:ln w="19050">
            <a:solidFill>
              <a:srgbClr val="1A5F2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19150" y="2325142"/>
            <a:ext cx="207258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1A5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Kinderbucks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19150" y="2858542"/>
            <a:ext cx="207258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Currency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819150" y="3260378"/>
            <a:ext cx="207258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bills accepted like cash. Tracks economic circulation.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327350" y="2077492"/>
            <a:ext cx="2527250" cy="1750516"/>
          </a:xfrm>
          <a:prstGeom prst="roundRect">
            <a:avLst>
              <a:gd name="adj" fmla="val 6530"/>
            </a:avLst>
          </a:prstGeom>
          <a:solidFill>
            <a:srgbClr val="FFFFFF"/>
          </a:solidFill>
          <a:ln w="19050">
            <a:solidFill>
              <a:srgbClr val="C9A22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575000" y="2325142"/>
            <a:ext cx="207258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Check-ins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575000" y="2858542"/>
            <a:ext cx="207258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Membership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3575000" y="3260378"/>
            <a:ext cx="207258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codes at each business. Tracks journey and tier status.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083201" y="2088952"/>
            <a:ext cx="2489150" cy="1727597"/>
          </a:xfrm>
          <a:prstGeom prst="roundRect">
            <a:avLst>
              <a:gd name="adj" fmla="val 6616"/>
            </a:avLst>
          </a:prstGeom>
          <a:solidFill>
            <a:srgbClr val="1A5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849517" y="2317552"/>
            <a:ext cx="95637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MATCHED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875626" y="2706142"/>
            <a:ext cx="904301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80"/>
              </a:lnSpc>
              <a:buNone/>
            </a:pPr>
            <a:r>
              <a:rPr lang="en-US" sz="27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+15%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6639571" y="3414713"/>
            <a:ext cx="137626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spcBef>
                <a:spcPts val="600"/>
              </a:spcBef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Kinderbucks value boost</a:t>
            </a:r>
            <a:endParaRPr lang="en-US" sz="9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1288852"/>
            <a:ext cx="409022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2400"/>
              </a:spcAft>
              <a:buNone/>
            </a:pPr>
            <a:r>
              <a:rPr lang="en-US" sz="2400" b="1" dirty="0">
                <a:solidFill>
                  <a:srgbClr val="1A5F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Membership Tiers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71500" y="2050852"/>
            <a:ext cx="1885950" cy="1803797"/>
          </a:xfrm>
          <a:prstGeom prst="roundRect">
            <a:avLst>
              <a:gd name="adj" fmla="val 5281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71500" y="2069902"/>
            <a:ext cx="1885950" cy="0"/>
          </a:xfrm>
          <a:prstGeom prst="line">
            <a:avLst/>
          </a:prstGeom>
          <a:noFill/>
          <a:ln w="38100">
            <a:solidFill>
              <a:srgbClr val="8888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2000" y="2279452"/>
            <a:ext cx="15350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62000" y="2622352"/>
            <a:ext cx="153504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Curious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62000" y="3090863"/>
            <a:ext cx="153504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900"/>
              </a:spcAft>
              <a:buNone/>
            </a:pPr>
            <a:r>
              <a:rPr lang="en-US" sz="825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transaction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762000" y="3504158"/>
            <a:ext cx="153504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+10% match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609850" y="2050852"/>
            <a:ext cx="1885950" cy="1803797"/>
          </a:xfrm>
          <a:prstGeom prst="roundRect">
            <a:avLst>
              <a:gd name="adj" fmla="val 5281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2609850" y="2069902"/>
            <a:ext cx="1885950" cy="0"/>
          </a:xfrm>
          <a:prstGeom prst="line">
            <a:avLst/>
          </a:prstGeom>
          <a:noFill/>
          <a:ln w="38100">
            <a:solidFill>
              <a:srgbClr val="2E7D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00350" y="2279452"/>
            <a:ext cx="15350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2800350" y="2622352"/>
            <a:ext cx="153504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Hooked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2800350" y="3090863"/>
            <a:ext cx="153504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900"/>
              </a:spcAft>
              <a:buNone/>
            </a:pPr>
            <a:r>
              <a:rPr lang="en-US" sz="825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businesses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2800350" y="3504158"/>
            <a:ext cx="153504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+15% match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48200" y="2050852"/>
            <a:ext cx="1885950" cy="1803797"/>
          </a:xfrm>
          <a:prstGeom prst="roundRect">
            <a:avLst>
              <a:gd name="adj" fmla="val 5281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648200" y="2069902"/>
            <a:ext cx="1885950" cy="0"/>
          </a:xfrm>
          <a:prstGeom prst="line">
            <a:avLst/>
          </a:prstGeom>
          <a:noFill/>
          <a:ln w="38100">
            <a:solidFill>
              <a:srgbClr val="1565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38700" y="2279452"/>
            <a:ext cx="15350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838700" y="2622352"/>
            <a:ext cx="153504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&amp; Sinker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838700" y="3090863"/>
            <a:ext cx="153504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900"/>
              </a:spcAft>
              <a:buNone/>
            </a:pPr>
            <a:r>
              <a:rPr lang="en-US" sz="825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10+ businesses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4838700" y="3504158"/>
            <a:ext cx="153504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+20% match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686550" y="2050852"/>
            <a:ext cx="1885950" cy="1803797"/>
          </a:xfrm>
          <a:prstGeom prst="roundRect">
            <a:avLst>
              <a:gd name="adj" fmla="val 5281"/>
            </a:avLst>
          </a:prstGeom>
          <a:solidFill>
            <a:srgbClr val="FFF8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6686550" y="2069902"/>
            <a:ext cx="1885950" cy="0"/>
          </a:xfrm>
          <a:prstGeom prst="line">
            <a:avLst/>
          </a:prstGeom>
          <a:noFill/>
          <a:ln w="38100">
            <a:solidFill>
              <a:srgbClr val="C9A22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77050" y="2279452"/>
            <a:ext cx="15350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4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6877050" y="2622352"/>
            <a:ext cx="153504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Village Patron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877050" y="3090863"/>
            <a:ext cx="153504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900"/>
              </a:spcAft>
              <a:buNone/>
            </a:pPr>
            <a:r>
              <a:rPr lang="en-US" sz="825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15+ or annual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6877050" y="3504158"/>
            <a:ext cx="153504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+25% match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1114574"/>
            <a:ext cx="409022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2400"/>
              </a:spcAft>
              <a:buNone/>
            </a:pPr>
            <a:r>
              <a:rPr lang="en-US" sz="2400" b="1" dirty="0">
                <a:solidFill>
                  <a:srgbClr val="1A5F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Businesses Get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71500" y="2232868"/>
            <a:ext cx="2381250" cy="662732"/>
          </a:xfrm>
          <a:prstGeom prst="roundRect">
            <a:avLst>
              <a:gd name="adj" fmla="val 1149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90550" y="2232868"/>
            <a:ext cx="0" cy="662732"/>
          </a:xfrm>
          <a:prstGeom prst="line">
            <a:avLst/>
          </a:prstGeom>
          <a:noFill/>
          <a:ln w="38100">
            <a:solidFill>
              <a:srgbClr val="1A5F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2000" y="2385268"/>
            <a:ext cx="207911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1A5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 Traffic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762000" y="2596604"/>
            <a:ext cx="20791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Bundles drive customers to your door.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3067050" y="2232868"/>
            <a:ext cx="2381250" cy="662732"/>
          </a:xfrm>
          <a:prstGeom prst="roundRect">
            <a:avLst>
              <a:gd name="adj" fmla="val 1149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086100" y="2232868"/>
            <a:ext cx="0" cy="662732"/>
          </a:xfrm>
          <a:prstGeom prst="line">
            <a:avLst/>
          </a:prstGeom>
          <a:noFill/>
          <a:ln w="38100">
            <a:solidFill>
              <a:srgbClr val="1A5F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57550" y="2385268"/>
            <a:ext cx="207911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1A5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Winter Support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3257550" y="2596604"/>
            <a:ext cx="20791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Deals activate when you need help.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571500" y="3009900"/>
            <a:ext cx="2381250" cy="662732"/>
          </a:xfrm>
          <a:prstGeom prst="roundRect">
            <a:avLst>
              <a:gd name="adj" fmla="val 1149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590550" y="3009900"/>
            <a:ext cx="0" cy="662732"/>
          </a:xfrm>
          <a:prstGeom prst="line">
            <a:avLst/>
          </a:prstGeom>
          <a:noFill/>
          <a:ln w="38100">
            <a:solidFill>
              <a:srgbClr val="C9A2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2000" y="3162300"/>
            <a:ext cx="207911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Marketing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762000" y="3373636"/>
            <a:ext cx="20791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Kinderhooker community promotes all.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3067050" y="3009900"/>
            <a:ext cx="2381250" cy="662732"/>
          </a:xfrm>
          <a:prstGeom prst="roundRect">
            <a:avLst>
              <a:gd name="adj" fmla="val 1149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3086100" y="3009900"/>
            <a:ext cx="0" cy="662732"/>
          </a:xfrm>
          <a:prstGeom prst="line">
            <a:avLst/>
          </a:prstGeom>
          <a:noFill/>
          <a:ln w="38100">
            <a:solidFill>
              <a:srgbClr val="C9A2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57550" y="3162300"/>
            <a:ext cx="207911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Insights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3257550" y="3373636"/>
            <a:ext cx="20791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Anonymized cross-shopping data.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5676900" y="1876574"/>
            <a:ext cx="2895600" cy="2152352"/>
          </a:xfrm>
          <a:prstGeom prst="roundRect">
            <a:avLst>
              <a:gd name="adj" fmla="val 5310"/>
            </a:avLst>
          </a:prstGeom>
          <a:solidFill>
            <a:srgbClr val="1A5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905500" y="2105174"/>
            <a:ext cx="248716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TO JOIN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5905500" y="2480370"/>
            <a:ext cx="2487168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5905500" y="3188940"/>
            <a:ext cx="248716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upfront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905500" y="3653730"/>
            <a:ext cx="248716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 accept Kinderbucks and display a QR code.</a:t>
            </a:r>
            <a:endParaRPr lang="en-US" sz="8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E4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957411"/>
            <a:ext cx="409994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2400"/>
              </a:spcAft>
              <a:buNone/>
            </a:pPr>
            <a:r>
              <a:rPr lang="en-US" sz="2400" b="1" dirty="0">
                <a:solidFill>
                  <a:srgbClr val="1A5F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Winter: When It Matters Most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71500" y="1719411"/>
            <a:ext cx="3619500" cy="733276"/>
          </a:xfrm>
          <a:prstGeom prst="roundRect">
            <a:avLst>
              <a:gd name="adj" fmla="val 1299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90550" y="1719411"/>
            <a:ext cx="0" cy="733276"/>
          </a:xfrm>
          <a:prstGeom prst="line">
            <a:avLst/>
          </a:prstGeom>
          <a:noFill/>
          <a:ln w="381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050" y="1890861"/>
            <a:ext cx="330327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 Up Wednesdays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81050" y="2134642"/>
            <a:ext cx="330327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Kinderbucks worth 20% more, Jan-Mar.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571500" y="2586038"/>
            <a:ext cx="3619500" cy="733276"/>
          </a:xfrm>
          <a:prstGeom prst="roundRect">
            <a:avLst>
              <a:gd name="adj" fmla="val 1299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90550" y="2586038"/>
            <a:ext cx="0" cy="733276"/>
          </a:xfrm>
          <a:prstGeom prst="line">
            <a:avLst/>
          </a:prstGeom>
          <a:noFill/>
          <a:ln w="38100">
            <a:solidFill>
              <a:srgbClr val="7B1FA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1050" y="2757488"/>
            <a:ext cx="330327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7B1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Snowday Specials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81050" y="3001268"/>
            <a:ext cx="330327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Weather-triggered deals when it snows.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571500" y="3452664"/>
            <a:ext cx="3619500" cy="733276"/>
          </a:xfrm>
          <a:prstGeom prst="roundRect">
            <a:avLst>
              <a:gd name="adj" fmla="val 1299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590550" y="3452664"/>
            <a:ext cx="0" cy="733276"/>
          </a:xfrm>
          <a:prstGeom prst="line">
            <a:avLst/>
          </a:prstGeom>
          <a:noFill/>
          <a:ln w="38100">
            <a:solidFill>
              <a:srgbClr val="0083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1050" y="3624114"/>
            <a:ext cx="330327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0083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Winter Circuit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81050" y="3867894"/>
            <a:ext cx="330327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 5 in January, earn bonus for February.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4419600" y="2333625"/>
            <a:ext cx="4152900" cy="1238101"/>
          </a:xfrm>
          <a:prstGeom prst="roundRect">
            <a:avLst>
              <a:gd name="adj" fmla="val 9232"/>
            </a:avLst>
          </a:prstGeom>
          <a:solidFill>
            <a:srgbClr val="1A5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592509" y="2600325"/>
            <a:ext cx="180708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you show up in winter...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264610" y="3091755"/>
            <a:ext cx="246287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keep your neighbors employed.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5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62961" y="788789"/>
            <a:ext cx="121792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spcAft>
                <a:spcPts val="1500"/>
              </a:spcAft>
              <a:buNone/>
            </a:pPr>
            <a:r>
              <a:rPr lang="en-US" sz="97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NEED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1815380" y="1304925"/>
            <a:ext cx="55130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spcAft>
                <a:spcPts val="27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Endorse the pilot. Help us prove it works.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048024" y="2105025"/>
            <a:ext cx="1664494" cy="937171"/>
          </a:xfrm>
          <a:prstGeom prst="roundRect">
            <a:avLst>
              <a:gd name="adj" fmla="val 10164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225689" y="2295525"/>
            <a:ext cx="130916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225689" y="2691705"/>
            <a:ext cx="130916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Association endorsement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903018" y="2105025"/>
            <a:ext cx="1518493" cy="937171"/>
          </a:xfrm>
          <a:prstGeom prst="roundRect">
            <a:avLst>
              <a:gd name="adj" fmla="val 10164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082143" y="2295525"/>
            <a:ext cx="116024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082143" y="2691705"/>
            <a:ext cx="116024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10-15 pilot businesses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612011" y="2105025"/>
            <a:ext cx="1483816" cy="937171"/>
          </a:xfrm>
          <a:prstGeom prst="roundRect">
            <a:avLst>
              <a:gd name="adj" fmla="val 10164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791483" y="2295525"/>
            <a:ext cx="112487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791483" y="2691705"/>
            <a:ext cx="112487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~$4,200 seed funding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91000" y="3537496"/>
            <a:ext cx="762000" cy="28575"/>
          </a:xfrm>
          <a:prstGeom prst="rect">
            <a:avLst/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188454" y="4061371"/>
            <a:ext cx="2766944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Hooked on Kinderhook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E4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1A5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76250" y="381000"/>
            <a:ext cx="471201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300"/>
              </a:spcAft>
              <a:buNone/>
            </a:pPr>
            <a:r>
              <a:rPr lang="en-US" sz="2400" b="1" dirty="0">
                <a:solidFill>
                  <a:srgbClr val="1A5F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Winter: When Community Matters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76250" y="876300"/>
            <a:ext cx="835533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1500"/>
              </a:spcAft>
              <a:buNone/>
            </a:pPr>
            <a:r>
              <a:rPr lang="en-US" sz="975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strongest incentives during the hardest months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476250" y="1960364"/>
            <a:ext cx="3771900" cy="668536"/>
          </a:xfrm>
          <a:prstGeom prst="roundRect">
            <a:avLst>
              <a:gd name="adj" fmla="val 1424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90538" y="1960364"/>
            <a:ext cx="0" cy="668536"/>
          </a:xfrm>
          <a:prstGeom prst="line">
            <a:avLst/>
          </a:prstGeom>
          <a:noFill/>
          <a:ln w="28575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7225" y="2112764"/>
            <a:ext cx="350729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 Up Wednesdays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657225" y="2343150"/>
            <a:ext cx="350729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Wednesday, Jan-Mar: Kinderbucks worth 20% more.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76250" y="2743200"/>
            <a:ext cx="3771900" cy="668536"/>
          </a:xfrm>
          <a:prstGeom prst="roundRect">
            <a:avLst>
              <a:gd name="adj" fmla="val 1424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90538" y="2743200"/>
            <a:ext cx="0" cy="668536"/>
          </a:xfrm>
          <a:prstGeom prst="line">
            <a:avLst/>
          </a:prstGeom>
          <a:noFill/>
          <a:ln w="28575">
            <a:solidFill>
              <a:srgbClr val="7B1FA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7225" y="2895600"/>
            <a:ext cx="350729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7B1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Snowday Specials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657225" y="3125986"/>
            <a:ext cx="350729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Weather-triggered deals when forecast keeps people home.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76250" y="3526036"/>
            <a:ext cx="3771900" cy="668536"/>
          </a:xfrm>
          <a:prstGeom prst="roundRect">
            <a:avLst>
              <a:gd name="adj" fmla="val 1424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90538" y="3526036"/>
            <a:ext cx="0" cy="668536"/>
          </a:xfrm>
          <a:prstGeom prst="line">
            <a:avLst/>
          </a:prstGeom>
          <a:noFill/>
          <a:ln w="28575">
            <a:solidFill>
              <a:srgbClr val="0083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7225" y="3678436"/>
            <a:ext cx="350729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0083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Fireside Gatherings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657225" y="3908822"/>
            <a:ext cx="350729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Kinderhooker-only events during slow periods.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438650" y="1713607"/>
            <a:ext cx="4229100" cy="2727722"/>
          </a:xfrm>
          <a:prstGeom prst="roundRect">
            <a:avLst>
              <a:gd name="adj" fmla="val 3492"/>
            </a:avLst>
          </a:prstGeom>
          <a:solidFill>
            <a:srgbClr val="1A5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937936" y="1942207"/>
            <a:ext cx="123052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WINTER CIRCUIT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67250" y="2368897"/>
            <a:ext cx="3771900" cy="1068586"/>
          </a:xfrm>
          <a:prstGeom prst="roundRect">
            <a:avLst>
              <a:gd name="adj" fmla="val 7131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784979" y="2521297"/>
            <a:ext cx="353644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Aft>
                <a:spcPts val="75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 5 businesses in January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772150" y="2776538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096000" y="2776538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419850" y="2776538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743700" y="2776538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067550" y="2776538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784979" y="3138488"/>
            <a:ext cx="353644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Bonus KB for February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6315075" y="3742283"/>
            <a:ext cx="476250" cy="19050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477817" y="4066133"/>
            <a:ext cx="21506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i="1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up in winter, keep neighbors employed.</a:t>
            </a:r>
            <a:endParaRPr lang="en-US" sz="8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1A5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76250" y="381000"/>
            <a:ext cx="418738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300"/>
              </a:spcAft>
              <a:buNone/>
            </a:pPr>
            <a:r>
              <a:rPr lang="en-US" sz="2400" b="1" dirty="0">
                <a:solidFill>
                  <a:srgbClr val="1A5F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Proven Model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76250" y="876300"/>
            <a:ext cx="835533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1500"/>
              </a:spcAft>
              <a:buNone/>
            </a:pPr>
            <a:r>
              <a:rPr lang="en-US" sz="975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BerkShares: 18 years of success in the Berkshires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476250" y="1942207"/>
            <a:ext cx="1847850" cy="849511"/>
          </a:xfrm>
          <a:prstGeom prst="roundRect">
            <a:avLst>
              <a:gd name="adj" fmla="val 11212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13220" y="2094607"/>
            <a:ext cx="1573911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1A5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10M+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13220" y="2505968"/>
            <a:ext cx="157391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BerkShares circulated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2419350" y="1942207"/>
            <a:ext cx="1847850" cy="849511"/>
          </a:xfrm>
          <a:prstGeom prst="roundRect">
            <a:avLst>
              <a:gd name="adj" fmla="val 11212"/>
            </a:avLst>
          </a:prstGeom>
          <a:solidFill>
            <a:srgbClr val="FFF8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556320" y="2094607"/>
            <a:ext cx="1573911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$10M+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2556320" y="2505968"/>
            <a:ext cx="157391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kept local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76250" y="2886968"/>
            <a:ext cx="1847850" cy="849511"/>
          </a:xfrm>
          <a:prstGeom prst="roundRect">
            <a:avLst>
              <a:gd name="adj" fmla="val 11212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13220" y="3039368"/>
            <a:ext cx="1573911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350+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613220" y="3450729"/>
            <a:ext cx="157391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businesses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2419350" y="2886968"/>
            <a:ext cx="1847850" cy="849511"/>
          </a:xfrm>
          <a:prstGeom prst="roundRect">
            <a:avLst>
              <a:gd name="adj" fmla="val 11212"/>
            </a:avLst>
          </a:prstGeom>
          <a:solidFill>
            <a:srgbClr val="FCE4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556320" y="3039368"/>
            <a:ext cx="1573911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2556320" y="3450729"/>
            <a:ext cx="157391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years running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76250" y="3831729"/>
            <a:ext cx="3790950" cy="381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4CF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00075" y="3955554"/>
            <a:ext cx="36141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Featured in: NYT, BBC, CNN, PBS, WSJ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457700" y="2114550"/>
            <a:ext cx="4210050" cy="1925836"/>
          </a:xfrm>
          <a:prstGeom prst="roundRect">
            <a:avLst>
              <a:gd name="adj" fmla="val 4946"/>
            </a:avLst>
          </a:prstGeom>
          <a:solidFill>
            <a:srgbClr val="FFFFFF"/>
          </a:solidFill>
          <a:ln w="19050">
            <a:solidFill>
              <a:srgbClr val="1A5F2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667250" y="2324100"/>
            <a:ext cx="386676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1050"/>
              </a:spcAft>
              <a:buNone/>
            </a:pPr>
            <a:r>
              <a:rPr lang="en-US" sz="975" b="1" dirty="0">
                <a:solidFill>
                  <a:srgbClr val="1A5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BerkShares Proved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4667250" y="2783086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1A5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736009" y="2811661"/>
            <a:ext cx="540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953000" y="2783086"/>
            <a:ext cx="130719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POS integration needed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4667250" y="3068836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1A5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736009" y="3097411"/>
            <a:ext cx="540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953000" y="3068836"/>
            <a:ext cx="148510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bills create connection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4667250" y="3354586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1A5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736009" y="3383161"/>
            <a:ext cx="540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953000" y="3354586"/>
            <a:ext cx="116419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buy-in is key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4667250" y="3640336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734669" y="3668911"/>
            <a:ext cx="567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953000" y="3640336"/>
            <a:ext cx="16751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744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add: digital tracking for insights</a:t>
            </a:r>
            <a:endParaRPr lang="en-US" sz="8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1A5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76250" y="381000"/>
            <a:ext cx="418738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300"/>
              </a:spcAft>
              <a:buNone/>
            </a:pPr>
            <a:r>
              <a:rPr lang="en-US" sz="2400" b="1" dirty="0">
                <a:solidFill>
                  <a:srgbClr val="1A5F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Simple Technology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76250" y="876300"/>
            <a:ext cx="835533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1500"/>
              </a:spcAft>
              <a:buNone/>
            </a:pPr>
            <a:r>
              <a:rPr lang="en-US" sz="975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Powerful data without complex integration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476250" y="2016472"/>
            <a:ext cx="2635300" cy="2121991"/>
          </a:xfrm>
          <a:prstGeom prst="roundRect">
            <a:avLst>
              <a:gd name="adj" fmla="val 4489"/>
            </a:avLst>
          </a:prstGeom>
          <a:solidFill>
            <a:srgbClr val="FFFFFF"/>
          </a:solidFill>
          <a:ln w="9525">
            <a:solidFill>
              <a:srgbClr val="D4CF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57225" y="2197447"/>
            <a:ext cx="231881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1050"/>
              </a:spcAft>
              <a:buNone/>
            </a:pPr>
            <a:r>
              <a:rPr lang="en-US" sz="975" b="1" dirty="0">
                <a:solidFill>
                  <a:srgbClr val="1A5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Businesses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657225" y="2656433"/>
            <a:ext cx="304800" cy="304800"/>
          </a:xfrm>
          <a:prstGeom prst="roundRect">
            <a:avLst>
              <a:gd name="adj" fmla="val 18750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95325" y="2702123"/>
            <a:ext cx="23317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7275" y="2665958"/>
            <a:ext cx="85511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Printed QR Code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1057275" y="2831604"/>
            <a:ext cx="85511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 on counter</a:t>
            </a:r>
            <a:endParaRPr lang="en-US" sz="675" dirty="0"/>
          </a:p>
        </p:txBody>
      </p:sp>
      <p:sp>
        <p:nvSpPr>
          <p:cNvPr id="11" name="Text 9"/>
          <p:cNvSpPr/>
          <p:nvPr/>
        </p:nvSpPr>
        <p:spPr>
          <a:xfrm>
            <a:off x="657225" y="3075533"/>
            <a:ext cx="304800" cy="304800"/>
          </a:xfrm>
          <a:prstGeom prst="roundRect">
            <a:avLst>
              <a:gd name="adj" fmla="val 18750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07975" y="3121223"/>
            <a:ext cx="20736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57275" y="3085058"/>
            <a:ext cx="10334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 Kinderbucks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1057275" y="3250704"/>
            <a:ext cx="103348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 as cash</a:t>
            </a:r>
            <a:endParaRPr lang="en-US" sz="675" dirty="0"/>
          </a:p>
        </p:txBody>
      </p:sp>
      <p:sp>
        <p:nvSpPr>
          <p:cNvPr id="15" name="Text 13"/>
          <p:cNvSpPr/>
          <p:nvPr/>
        </p:nvSpPr>
        <p:spPr>
          <a:xfrm>
            <a:off x="657225" y="3647033"/>
            <a:ext cx="2273350" cy="310455"/>
          </a:xfrm>
          <a:prstGeom prst="roundRect">
            <a:avLst>
              <a:gd name="adj" fmla="val 18408"/>
            </a:avLst>
          </a:prstGeom>
          <a:solidFill>
            <a:srgbClr val="FEF9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31647" y="3742283"/>
            <a:ext cx="212450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744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app. No POS changes.</a:t>
            </a:r>
            <a:endParaRPr lang="en-US" sz="675" dirty="0"/>
          </a:p>
        </p:txBody>
      </p:sp>
      <p:sp>
        <p:nvSpPr>
          <p:cNvPr id="17" name="Text 15"/>
          <p:cNvSpPr/>
          <p:nvPr/>
        </p:nvSpPr>
        <p:spPr>
          <a:xfrm>
            <a:off x="3263950" y="2016472"/>
            <a:ext cx="2635300" cy="2121991"/>
          </a:xfrm>
          <a:prstGeom prst="roundRect">
            <a:avLst>
              <a:gd name="adj" fmla="val 4489"/>
            </a:avLst>
          </a:prstGeom>
          <a:solidFill>
            <a:srgbClr val="FFFFFF"/>
          </a:solidFill>
          <a:ln w="9525">
            <a:solidFill>
              <a:srgbClr val="D4CF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444925" y="2197447"/>
            <a:ext cx="231881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1050"/>
              </a:spcAft>
              <a:buNone/>
            </a:pPr>
            <a:r>
              <a:rPr lang="en-US" sz="975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Customers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3444925" y="2656433"/>
            <a:ext cx="304800" cy="304800"/>
          </a:xfrm>
          <a:prstGeom prst="roundRect">
            <a:avLst>
              <a:gd name="adj" fmla="val 18750"/>
            </a:avLst>
          </a:prstGeom>
          <a:solidFill>
            <a:srgbClr val="FFF8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445222" y="2715518"/>
            <a:ext cx="31013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844975" y="2665958"/>
            <a:ext cx="86118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to Check In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3844975" y="2831604"/>
            <a:ext cx="86118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 camera works</a:t>
            </a:r>
            <a:endParaRPr lang="en-US" sz="675" dirty="0"/>
          </a:p>
        </p:txBody>
      </p:sp>
      <p:sp>
        <p:nvSpPr>
          <p:cNvPr id="23" name="Text 21"/>
          <p:cNvSpPr/>
          <p:nvPr/>
        </p:nvSpPr>
        <p:spPr>
          <a:xfrm>
            <a:off x="3444925" y="3075533"/>
            <a:ext cx="304800" cy="304800"/>
          </a:xfrm>
          <a:prstGeom prst="roundRect">
            <a:avLst>
              <a:gd name="adj" fmla="val 18750"/>
            </a:avLst>
          </a:prstGeom>
          <a:solidFill>
            <a:srgbClr val="FFF8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484959" y="3134618"/>
            <a:ext cx="22922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844975" y="3085058"/>
            <a:ext cx="77238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Progress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3844975" y="3250704"/>
            <a:ext cx="77238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tier status</a:t>
            </a:r>
            <a:endParaRPr lang="en-US" sz="675" dirty="0"/>
          </a:p>
        </p:txBody>
      </p:sp>
      <p:sp>
        <p:nvSpPr>
          <p:cNvPr id="27" name="Text 25"/>
          <p:cNvSpPr/>
          <p:nvPr/>
        </p:nvSpPr>
        <p:spPr>
          <a:xfrm>
            <a:off x="3444925" y="3647033"/>
            <a:ext cx="2273350" cy="310455"/>
          </a:xfrm>
          <a:prstGeom prst="roundRect">
            <a:avLst>
              <a:gd name="adj" fmla="val 18408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519346" y="3742283"/>
            <a:ext cx="212450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1A5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smartphone. Optional signup.</a:t>
            </a:r>
            <a:endParaRPr lang="en-US" sz="675" dirty="0"/>
          </a:p>
        </p:txBody>
      </p:sp>
      <p:sp>
        <p:nvSpPr>
          <p:cNvPr id="29" name="Text 27"/>
          <p:cNvSpPr/>
          <p:nvPr/>
        </p:nvSpPr>
        <p:spPr>
          <a:xfrm>
            <a:off x="6051649" y="1675656"/>
            <a:ext cx="2616250" cy="2803475"/>
          </a:xfrm>
          <a:prstGeom prst="roundRect">
            <a:avLst>
              <a:gd name="adj" fmla="val 3641"/>
            </a:avLst>
          </a:prstGeom>
          <a:solidFill>
            <a:srgbClr val="1A5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223099" y="1847106"/>
            <a:ext cx="231881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1050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Village Insights</a:t>
            </a:r>
            <a:endParaRPr lang="en-US" sz="975" dirty="0"/>
          </a:p>
        </p:txBody>
      </p:sp>
      <p:sp>
        <p:nvSpPr>
          <p:cNvPr id="31" name="Text 29"/>
          <p:cNvSpPr/>
          <p:nvPr/>
        </p:nvSpPr>
        <p:spPr>
          <a:xfrm>
            <a:off x="6223099" y="2306092"/>
            <a:ext cx="2273350" cy="485626"/>
          </a:xfrm>
          <a:prstGeom prst="roundRect">
            <a:avLst>
              <a:gd name="adj" fmla="val 11768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318349" y="2401342"/>
            <a:ext cx="212450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Cross-shopping patterns</a:t>
            </a:r>
            <a:endParaRPr lang="en-US" sz="825" dirty="0"/>
          </a:p>
        </p:txBody>
      </p:sp>
      <p:sp>
        <p:nvSpPr>
          <p:cNvPr id="33" name="Text 31"/>
          <p:cNvSpPr/>
          <p:nvPr/>
        </p:nvSpPr>
        <p:spPr>
          <a:xfrm>
            <a:off x="6318349" y="2576513"/>
            <a:ext cx="212450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225"/>
              </a:spcBef>
              <a:buNone/>
            </a:pPr>
            <a:r>
              <a:rPr lang="en-US" sz="67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visits before/after you</a:t>
            </a:r>
            <a:endParaRPr lang="en-US" sz="675" dirty="0"/>
          </a:p>
        </p:txBody>
      </p:sp>
      <p:sp>
        <p:nvSpPr>
          <p:cNvPr id="34" name="Text 32"/>
          <p:cNvSpPr/>
          <p:nvPr/>
        </p:nvSpPr>
        <p:spPr>
          <a:xfrm>
            <a:off x="6223099" y="2886968"/>
            <a:ext cx="2273350" cy="485626"/>
          </a:xfrm>
          <a:prstGeom prst="roundRect">
            <a:avLst>
              <a:gd name="adj" fmla="val 11768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318349" y="2982218"/>
            <a:ext cx="212450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 periods identified</a:t>
            </a:r>
            <a:endParaRPr lang="en-US" sz="825" dirty="0"/>
          </a:p>
        </p:txBody>
      </p:sp>
      <p:sp>
        <p:nvSpPr>
          <p:cNvPr id="36" name="Text 34"/>
          <p:cNvSpPr/>
          <p:nvPr/>
        </p:nvSpPr>
        <p:spPr>
          <a:xfrm>
            <a:off x="6318349" y="3157389"/>
            <a:ext cx="212450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225"/>
              </a:spcBef>
              <a:buNone/>
            </a:pPr>
            <a:r>
              <a:rPr lang="en-US" sz="67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Coordinate village events</a:t>
            </a:r>
            <a:endParaRPr lang="en-US" sz="675" dirty="0"/>
          </a:p>
        </p:txBody>
      </p:sp>
      <p:sp>
        <p:nvSpPr>
          <p:cNvPr id="37" name="Text 35"/>
          <p:cNvSpPr/>
          <p:nvPr/>
        </p:nvSpPr>
        <p:spPr>
          <a:xfrm>
            <a:off x="6223099" y="3467844"/>
            <a:ext cx="2273350" cy="485626"/>
          </a:xfrm>
          <a:prstGeom prst="roundRect">
            <a:avLst>
              <a:gd name="adj" fmla="val 11768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318349" y="3563094"/>
            <a:ext cx="212450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Tourist vs local circuits</a:t>
            </a:r>
            <a:endParaRPr lang="en-US" sz="825" dirty="0"/>
          </a:p>
        </p:txBody>
      </p:sp>
      <p:sp>
        <p:nvSpPr>
          <p:cNvPr id="39" name="Text 37"/>
          <p:cNvSpPr/>
          <p:nvPr/>
        </p:nvSpPr>
        <p:spPr>
          <a:xfrm>
            <a:off x="6318349" y="3738265"/>
            <a:ext cx="212450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225"/>
              </a:spcBef>
              <a:buNone/>
            </a:pPr>
            <a:r>
              <a:rPr lang="en-US" sz="67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promotions</a:t>
            </a:r>
            <a:endParaRPr lang="en-US" sz="675" dirty="0"/>
          </a:p>
        </p:txBody>
      </p:sp>
      <p:sp>
        <p:nvSpPr>
          <p:cNvPr id="40" name="Text 38"/>
          <p:cNvSpPr/>
          <p:nvPr/>
        </p:nvSpPr>
        <p:spPr>
          <a:xfrm>
            <a:off x="6200366" y="4201120"/>
            <a:ext cx="2318817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spcBef>
                <a:spcPts val="750"/>
              </a:spcBef>
              <a:buNone/>
            </a:pPr>
            <a:r>
              <a:rPr lang="en-US" sz="6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data anonymized.</a:t>
            </a:r>
            <a:endParaRPr lang="en-US" sz="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1A5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76250" y="381000"/>
            <a:ext cx="418738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300"/>
              </a:spcAft>
              <a:buNone/>
            </a:pPr>
            <a:r>
              <a:rPr lang="en-US" sz="2400" b="1" dirty="0">
                <a:solidFill>
                  <a:srgbClr val="1A5F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Pilot Program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76250" y="876300"/>
            <a:ext cx="835533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1500"/>
              </a:spcAft>
              <a:buNone/>
            </a:pPr>
            <a:r>
              <a:rPr lang="en-US" sz="975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Starting small, proving value, then scaling</a:t>
            </a:r>
            <a:endParaRPr lang="en-US" sz="975" dirty="0"/>
          </a:p>
        </p:txBody>
      </p:sp>
      <p:sp>
        <p:nvSpPr>
          <p:cNvPr id="5" name="Shape 3"/>
          <p:cNvSpPr/>
          <p:nvPr/>
        </p:nvSpPr>
        <p:spPr>
          <a:xfrm>
            <a:off x="1857375" y="2373660"/>
            <a:ext cx="0" cy="1407468"/>
          </a:xfrm>
          <a:prstGeom prst="line">
            <a:avLst/>
          </a:prstGeom>
          <a:noFill/>
          <a:ln w="19050">
            <a:solidFill>
              <a:srgbClr val="E8E4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6250" y="2373660"/>
            <a:ext cx="1257300" cy="247650"/>
          </a:xfrm>
          <a:prstGeom prst="roundRect">
            <a:avLst>
              <a:gd name="adj" fmla="val 15385"/>
            </a:avLst>
          </a:prstGeom>
          <a:solidFill>
            <a:srgbClr val="1A5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60832" y="2430810"/>
            <a:ext cx="108813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1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76250" y="2773710"/>
            <a:ext cx="1257300" cy="100741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1728788" y="2773710"/>
            <a:ext cx="0" cy="1007418"/>
          </a:xfrm>
          <a:prstGeom prst="line">
            <a:avLst/>
          </a:prstGeom>
          <a:noFill/>
          <a:ln w="9525">
            <a:solidFill>
              <a:srgbClr val="D4CFC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6250" y="3776365"/>
            <a:ext cx="1257300" cy="0"/>
          </a:xfrm>
          <a:prstGeom prst="line">
            <a:avLst/>
          </a:prstGeom>
          <a:noFill/>
          <a:ln w="9525">
            <a:solidFill>
              <a:srgbClr val="D4CFC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1013" y="2773710"/>
            <a:ext cx="0" cy="1007418"/>
          </a:xfrm>
          <a:prstGeom prst="line">
            <a:avLst/>
          </a:prstGeom>
          <a:noFill/>
          <a:ln w="9525">
            <a:solidFill>
              <a:srgbClr val="D4CF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0075" y="2888010"/>
            <a:ext cx="102984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1A5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600075" y="3091755"/>
            <a:ext cx="102984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225"/>
              </a:spcAft>
              <a:buNone/>
            </a:pPr>
            <a:r>
              <a:rPr lang="en-US" sz="675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 currency</a:t>
            </a: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600075" y="3240286"/>
            <a:ext cx="102984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225"/>
              </a:spcAft>
              <a:buNone/>
            </a:pPr>
            <a:r>
              <a:rPr lang="en-US" sz="675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QR codes</a:t>
            </a:r>
            <a:endParaRPr lang="en-US" sz="675" dirty="0"/>
          </a:p>
        </p:txBody>
      </p:sp>
      <p:sp>
        <p:nvSpPr>
          <p:cNvPr id="15" name="Text 13"/>
          <p:cNvSpPr/>
          <p:nvPr/>
        </p:nvSpPr>
        <p:spPr>
          <a:xfrm>
            <a:off x="600075" y="3388816"/>
            <a:ext cx="102984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225"/>
              </a:spcAft>
              <a:buNone/>
            </a:pPr>
            <a:r>
              <a:rPr lang="en-US" sz="675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Recruit 10-15 pilots</a:t>
            </a:r>
            <a:endParaRPr lang="en-US" sz="675" dirty="0"/>
          </a:p>
        </p:txBody>
      </p:sp>
      <p:sp>
        <p:nvSpPr>
          <p:cNvPr id="16" name="Text 14"/>
          <p:cNvSpPr/>
          <p:nvPr/>
        </p:nvSpPr>
        <p:spPr>
          <a:xfrm>
            <a:off x="600075" y="3537347"/>
            <a:ext cx="102984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+ onboard</a:t>
            </a:r>
            <a:endParaRPr lang="en-US" sz="675" dirty="0"/>
          </a:p>
        </p:txBody>
      </p:sp>
      <p:sp>
        <p:nvSpPr>
          <p:cNvPr id="17" name="Shape 15"/>
          <p:cNvSpPr/>
          <p:nvPr/>
        </p:nvSpPr>
        <p:spPr>
          <a:xfrm>
            <a:off x="3362325" y="2373660"/>
            <a:ext cx="0" cy="1407468"/>
          </a:xfrm>
          <a:prstGeom prst="line">
            <a:avLst/>
          </a:prstGeom>
          <a:noFill/>
          <a:ln w="19050">
            <a:solidFill>
              <a:srgbClr val="E8E4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81200" y="2373660"/>
            <a:ext cx="1257300" cy="247650"/>
          </a:xfrm>
          <a:prstGeom prst="roundRect">
            <a:avLst>
              <a:gd name="adj" fmla="val 15385"/>
            </a:avLst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065782" y="2430810"/>
            <a:ext cx="108813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2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981200" y="2773710"/>
            <a:ext cx="1257300" cy="100741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3233737" y="2773710"/>
            <a:ext cx="0" cy="1007418"/>
          </a:xfrm>
          <a:prstGeom prst="line">
            <a:avLst/>
          </a:prstGeom>
          <a:noFill/>
          <a:ln w="9525">
            <a:solidFill>
              <a:srgbClr val="D4CFC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81200" y="3776365"/>
            <a:ext cx="1257300" cy="0"/>
          </a:xfrm>
          <a:prstGeom prst="line">
            <a:avLst/>
          </a:prstGeom>
          <a:noFill/>
          <a:ln w="9525">
            <a:solidFill>
              <a:srgbClr val="D4CFC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85963" y="2773710"/>
            <a:ext cx="0" cy="1007418"/>
          </a:xfrm>
          <a:prstGeom prst="line">
            <a:avLst/>
          </a:prstGeom>
          <a:noFill/>
          <a:ln w="9525">
            <a:solidFill>
              <a:srgbClr val="D4CFC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05025" y="2888010"/>
            <a:ext cx="102984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 Launch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2105025" y="3091755"/>
            <a:ext cx="102984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225"/>
              </a:spcAft>
              <a:buNone/>
            </a:pPr>
            <a:r>
              <a:rPr lang="en-US" sz="675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KB distribution</a:t>
            </a:r>
            <a:endParaRPr lang="en-US" sz="675" dirty="0"/>
          </a:p>
        </p:txBody>
      </p:sp>
      <p:sp>
        <p:nvSpPr>
          <p:cNvPr id="26" name="Text 24"/>
          <p:cNvSpPr/>
          <p:nvPr/>
        </p:nvSpPr>
        <p:spPr>
          <a:xfrm>
            <a:off x="2105025" y="3240286"/>
            <a:ext cx="102984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225"/>
              </a:spcAft>
              <a:buNone/>
            </a:pPr>
            <a:r>
              <a:rPr lang="en-US" sz="675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check-in system</a:t>
            </a:r>
            <a:endParaRPr lang="en-US" sz="675" dirty="0"/>
          </a:p>
        </p:txBody>
      </p:sp>
      <p:sp>
        <p:nvSpPr>
          <p:cNvPr id="27" name="Text 25"/>
          <p:cNvSpPr/>
          <p:nvPr/>
        </p:nvSpPr>
        <p:spPr>
          <a:xfrm>
            <a:off x="2105025" y="3388816"/>
            <a:ext cx="102984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225"/>
              </a:spcAft>
              <a:buNone/>
            </a:pPr>
            <a:r>
              <a:rPr lang="en-US" sz="675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Gather feedback</a:t>
            </a:r>
            <a:endParaRPr lang="en-US" sz="675" dirty="0"/>
          </a:p>
        </p:txBody>
      </p:sp>
      <p:sp>
        <p:nvSpPr>
          <p:cNvPr id="28" name="Text 26"/>
          <p:cNvSpPr/>
          <p:nvPr/>
        </p:nvSpPr>
        <p:spPr>
          <a:xfrm>
            <a:off x="2105025" y="3537347"/>
            <a:ext cx="102984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Iterate on UX</a:t>
            </a:r>
            <a:endParaRPr lang="en-US" sz="675" dirty="0"/>
          </a:p>
        </p:txBody>
      </p:sp>
      <p:sp>
        <p:nvSpPr>
          <p:cNvPr id="29" name="Shape 27"/>
          <p:cNvSpPr/>
          <p:nvPr/>
        </p:nvSpPr>
        <p:spPr>
          <a:xfrm>
            <a:off x="4867275" y="2373660"/>
            <a:ext cx="0" cy="1407468"/>
          </a:xfrm>
          <a:prstGeom prst="line">
            <a:avLst/>
          </a:prstGeom>
          <a:noFill/>
          <a:ln w="19050">
            <a:solidFill>
              <a:srgbClr val="E8E4D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86150" y="2373660"/>
            <a:ext cx="1257300" cy="247650"/>
          </a:xfrm>
          <a:prstGeom prst="roundRect">
            <a:avLst>
              <a:gd name="adj" fmla="val 15385"/>
            </a:avLst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3570732" y="2430810"/>
            <a:ext cx="108813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3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3486150" y="2773710"/>
            <a:ext cx="1257300" cy="100741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4738688" y="2773710"/>
            <a:ext cx="0" cy="1007418"/>
          </a:xfrm>
          <a:prstGeom prst="line">
            <a:avLst/>
          </a:prstGeom>
          <a:noFill/>
          <a:ln w="9525">
            <a:solidFill>
              <a:srgbClr val="D4CFC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486150" y="3776365"/>
            <a:ext cx="1257300" cy="0"/>
          </a:xfrm>
          <a:prstGeom prst="line">
            <a:avLst/>
          </a:prstGeom>
          <a:noFill/>
          <a:ln w="9525">
            <a:solidFill>
              <a:srgbClr val="D4CFC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490913" y="2773710"/>
            <a:ext cx="0" cy="1007418"/>
          </a:xfrm>
          <a:prstGeom prst="line">
            <a:avLst/>
          </a:prstGeom>
          <a:noFill/>
          <a:ln w="9525">
            <a:solidFill>
              <a:srgbClr val="D4CFC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09975" y="2888010"/>
            <a:ext cx="102984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Launch</a:t>
            </a:r>
            <a:endParaRPr lang="en-US" sz="825" dirty="0"/>
          </a:p>
        </p:txBody>
      </p:sp>
      <p:sp>
        <p:nvSpPr>
          <p:cNvPr id="37" name="Text 35"/>
          <p:cNvSpPr/>
          <p:nvPr/>
        </p:nvSpPr>
        <p:spPr>
          <a:xfrm>
            <a:off x="3609975" y="3091755"/>
            <a:ext cx="102984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225"/>
              </a:spcAft>
              <a:buNone/>
            </a:pPr>
            <a:r>
              <a:rPr lang="en-US" sz="675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marketing push</a:t>
            </a:r>
            <a:endParaRPr lang="en-US" sz="675" dirty="0"/>
          </a:p>
        </p:txBody>
      </p:sp>
      <p:sp>
        <p:nvSpPr>
          <p:cNvPr id="38" name="Text 36"/>
          <p:cNvSpPr/>
          <p:nvPr/>
        </p:nvSpPr>
        <p:spPr>
          <a:xfrm>
            <a:off x="3609975" y="3240286"/>
            <a:ext cx="102984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225"/>
              </a:spcAft>
              <a:buNone/>
            </a:pPr>
            <a:r>
              <a:rPr lang="en-US" sz="675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media promo</a:t>
            </a:r>
            <a:endParaRPr lang="en-US" sz="675" dirty="0"/>
          </a:p>
        </p:txBody>
      </p:sp>
      <p:sp>
        <p:nvSpPr>
          <p:cNvPr id="39" name="Text 37"/>
          <p:cNvSpPr/>
          <p:nvPr/>
        </p:nvSpPr>
        <p:spPr>
          <a:xfrm>
            <a:off x="3609975" y="3388816"/>
            <a:ext cx="102984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225"/>
              </a:spcAft>
              <a:buNone/>
            </a:pPr>
            <a:r>
              <a:rPr lang="en-US" sz="675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bundles launch</a:t>
            </a:r>
            <a:endParaRPr lang="en-US" sz="675" dirty="0"/>
          </a:p>
        </p:txBody>
      </p:sp>
      <p:sp>
        <p:nvSpPr>
          <p:cNvPr id="40" name="Text 38"/>
          <p:cNvSpPr/>
          <p:nvPr/>
        </p:nvSpPr>
        <p:spPr>
          <a:xfrm>
            <a:off x="3609975" y="3537347"/>
            <a:ext cx="102984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Winter deals activate</a:t>
            </a:r>
            <a:endParaRPr lang="en-US" sz="675" dirty="0"/>
          </a:p>
        </p:txBody>
      </p:sp>
      <p:sp>
        <p:nvSpPr>
          <p:cNvPr id="41" name="Text 39"/>
          <p:cNvSpPr/>
          <p:nvPr/>
        </p:nvSpPr>
        <p:spPr>
          <a:xfrm>
            <a:off x="4991100" y="2373660"/>
            <a:ext cx="1257300" cy="247650"/>
          </a:xfrm>
          <a:prstGeom prst="roundRect">
            <a:avLst>
              <a:gd name="adj" fmla="val 15385"/>
            </a:avLst>
          </a:prstGeom>
          <a:solidFill>
            <a:srgbClr val="74421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5075682" y="2430810"/>
            <a:ext cx="108813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4+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991100" y="2773710"/>
            <a:ext cx="1257300" cy="100741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Shape 42"/>
          <p:cNvSpPr/>
          <p:nvPr/>
        </p:nvSpPr>
        <p:spPr>
          <a:xfrm>
            <a:off x="6243638" y="2773710"/>
            <a:ext cx="0" cy="1007418"/>
          </a:xfrm>
          <a:prstGeom prst="line">
            <a:avLst/>
          </a:prstGeom>
          <a:noFill/>
          <a:ln w="9525">
            <a:solidFill>
              <a:srgbClr val="D4CFC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991100" y="3776365"/>
            <a:ext cx="1257300" cy="0"/>
          </a:xfrm>
          <a:prstGeom prst="line">
            <a:avLst/>
          </a:prstGeom>
          <a:noFill/>
          <a:ln w="9525">
            <a:solidFill>
              <a:srgbClr val="D4CFC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995862" y="2773710"/>
            <a:ext cx="0" cy="1007418"/>
          </a:xfrm>
          <a:prstGeom prst="line">
            <a:avLst/>
          </a:prstGeom>
          <a:noFill/>
          <a:ln w="9525">
            <a:solidFill>
              <a:srgbClr val="D4CFC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114925" y="2888010"/>
            <a:ext cx="102984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744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+ Learn</a:t>
            </a:r>
            <a:endParaRPr lang="en-US" sz="825" dirty="0"/>
          </a:p>
        </p:txBody>
      </p:sp>
      <p:sp>
        <p:nvSpPr>
          <p:cNvPr id="48" name="Text 46"/>
          <p:cNvSpPr/>
          <p:nvPr/>
        </p:nvSpPr>
        <p:spPr>
          <a:xfrm>
            <a:off x="5114925" y="3091755"/>
            <a:ext cx="102984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225"/>
              </a:spcAft>
              <a:buNone/>
            </a:pPr>
            <a:r>
              <a:rPr lang="en-US" sz="675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businesses</a:t>
            </a:r>
            <a:endParaRPr lang="en-US" sz="675" dirty="0"/>
          </a:p>
        </p:txBody>
      </p:sp>
      <p:sp>
        <p:nvSpPr>
          <p:cNvPr id="49" name="Text 47"/>
          <p:cNvSpPr/>
          <p:nvPr/>
        </p:nvSpPr>
        <p:spPr>
          <a:xfrm>
            <a:off x="5114925" y="3240286"/>
            <a:ext cx="102984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225"/>
              </a:spcAft>
              <a:buNone/>
            </a:pPr>
            <a:r>
              <a:rPr lang="en-US" sz="675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data report</a:t>
            </a:r>
            <a:endParaRPr lang="en-US" sz="675" dirty="0"/>
          </a:p>
        </p:txBody>
      </p:sp>
      <p:sp>
        <p:nvSpPr>
          <p:cNvPr id="50" name="Text 48"/>
          <p:cNvSpPr/>
          <p:nvPr/>
        </p:nvSpPr>
        <p:spPr>
          <a:xfrm>
            <a:off x="5114925" y="3388816"/>
            <a:ext cx="102984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225"/>
              </a:spcAft>
              <a:buNone/>
            </a:pPr>
            <a:r>
              <a:rPr lang="en-US" sz="675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Refine tiers</a:t>
            </a:r>
            <a:endParaRPr lang="en-US" sz="675" dirty="0"/>
          </a:p>
        </p:txBody>
      </p:sp>
      <p:sp>
        <p:nvSpPr>
          <p:cNvPr id="51" name="Text 49"/>
          <p:cNvSpPr/>
          <p:nvPr/>
        </p:nvSpPr>
        <p:spPr>
          <a:xfrm>
            <a:off x="5114925" y="3537347"/>
            <a:ext cx="102984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Year 2</a:t>
            </a:r>
            <a:endParaRPr lang="en-US" sz="675" dirty="0"/>
          </a:p>
        </p:txBody>
      </p:sp>
      <p:sp>
        <p:nvSpPr>
          <p:cNvPr id="52" name="Text 50"/>
          <p:cNvSpPr/>
          <p:nvPr/>
        </p:nvSpPr>
        <p:spPr>
          <a:xfrm>
            <a:off x="6400800" y="1754535"/>
            <a:ext cx="2266950" cy="2645866"/>
          </a:xfrm>
          <a:prstGeom prst="roundRect">
            <a:avLst>
              <a:gd name="adj" fmla="val 4202"/>
            </a:avLst>
          </a:prstGeom>
          <a:solidFill>
            <a:srgbClr val="1A5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6572250" y="1925985"/>
            <a:ext cx="196253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105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Budget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572250" y="2371725"/>
            <a:ext cx="6102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Currency print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8204895" y="2371725"/>
            <a:ext cx="2972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$2,500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6572250" y="2581275"/>
            <a:ext cx="5131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signage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8284369" y="2581275"/>
            <a:ext cx="21617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$500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6572250" y="2790825"/>
            <a:ext cx="5455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Tech/hosting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8284369" y="2790825"/>
            <a:ext cx="21617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$200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6572250" y="3000375"/>
            <a:ext cx="4265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8204895" y="3000375"/>
            <a:ext cx="2972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$1,000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6572250" y="3248025"/>
            <a:ext cx="1924050" cy="9525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6572250" y="3371850"/>
            <a:ext cx="26990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8079879" y="3371850"/>
            <a:ext cx="42475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~$4,200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6572250" y="3798540"/>
            <a:ext cx="1924050" cy="430411"/>
          </a:xfrm>
          <a:prstGeom prst="roundRect">
            <a:avLst>
              <a:gd name="adj" fmla="val 13278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6650165" y="3893790"/>
            <a:ext cx="1768221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$10-15K in KB circulation (redeemable at par)</a:t>
            </a:r>
            <a:endParaRPr lang="en-US" sz="67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5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67244" y="684014"/>
            <a:ext cx="180951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Aft>
                <a:spcPts val="1050"/>
              </a:spcAft>
              <a:buNone/>
            </a:pPr>
            <a:r>
              <a:rPr lang="en-US" sz="9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ARE ASKING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470784" y="1129754"/>
            <a:ext cx="6202284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510"/>
              </a:lnSpc>
              <a:spcAft>
                <a:spcPts val="2400"/>
              </a:spcAft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Endorse the pilot. Help us prove it works.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375172" y="2032695"/>
            <a:ext cx="1784598" cy="775246"/>
          </a:xfrm>
          <a:prstGeom prst="roundRect">
            <a:avLst>
              <a:gd name="adj" fmla="val 12286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51636" y="2185095"/>
            <a:ext cx="14316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Aft>
                <a:spcPts val="450"/>
              </a:spcAft>
              <a:buNone/>
            </a:pPr>
            <a:r>
              <a:rPr lang="en-US" sz="15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551636" y="2508945"/>
            <a:ext cx="143167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Assoc. endorsement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3312170" y="2032695"/>
            <a:ext cx="1423690" cy="775246"/>
          </a:xfrm>
          <a:prstGeom prst="roundRect">
            <a:avLst>
              <a:gd name="adj" fmla="val 12286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492243" y="2185095"/>
            <a:ext cx="10635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Aft>
                <a:spcPts val="450"/>
              </a:spcAft>
              <a:buNone/>
            </a:pPr>
            <a:r>
              <a:rPr lang="en-US" sz="15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492243" y="2508945"/>
            <a:ext cx="106354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10-15 pilot businesses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4888260" y="2032695"/>
            <a:ext cx="1409402" cy="775246"/>
          </a:xfrm>
          <a:prstGeom prst="roundRect">
            <a:avLst>
              <a:gd name="adj" fmla="val 12286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068476" y="2185095"/>
            <a:ext cx="10489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Aft>
                <a:spcPts val="450"/>
              </a:spcAft>
              <a:buNone/>
            </a:pPr>
            <a:r>
              <a:rPr lang="en-US" sz="15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68476" y="2508945"/>
            <a:ext cx="104897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funding ~$4,200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6450062" y="2032695"/>
            <a:ext cx="1318617" cy="775246"/>
          </a:xfrm>
          <a:prstGeom prst="roundRect">
            <a:avLst>
              <a:gd name="adj" fmla="val 12286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631186" y="2185095"/>
            <a:ext cx="9563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Aft>
                <a:spcPts val="450"/>
              </a:spcAft>
              <a:buNone/>
            </a:pPr>
            <a:r>
              <a:rPr lang="en-US" sz="15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631186" y="2508945"/>
            <a:ext cx="95637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 partners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4286250" y="3265140"/>
            <a:ext cx="571500" cy="28575"/>
          </a:xfrm>
          <a:prstGeom prst="rect">
            <a:avLst/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188454" y="3750915"/>
            <a:ext cx="2766944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spcAft>
                <a:spcPts val="600"/>
              </a:spcAft>
              <a:buNone/>
            </a:pPr>
            <a:r>
              <a:rPr lang="en-US" sz="165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Hooked on Kinderhook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3180408" y="4272855"/>
            <a:ext cx="278303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the Village. The Village Supports You.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Kinderhooker Program</dc:title>
  <dc:subject>Village Loyalty &amp; Rewards Program</dc:subject>
  <dc:creator>Kinderhook Business Association</dc:creator>
  <cp:lastModifiedBy>Kinderhook Business Association</cp:lastModifiedBy>
  <cp:revision>1</cp:revision>
  <dcterms:created xsi:type="dcterms:W3CDTF">2026-01-20T03:18:46Z</dcterms:created>
  <dcterms:modified xsi:type="dcterms:W3CDTF">2026-01-20T03:18:46Z</dcterms:modified>
</cp:coreProperties>
</file>